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76309a03f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76309a0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482b562f2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482b562f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482b562f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482b562f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482b562f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482b562f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482b562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482b562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482b562f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482b562f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482b562f2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482b562f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482b562f2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482b562f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482b562f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482b562f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Bank Trends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it mean to prosper?</a:t>
            </a:r>
            <a:endParaRPr/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World Bank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The world bank is an international organization that provides financial aid to countries with the goal of supporting economic development and reducing global poverty</a:t>
            </a:r>
            <a:endParaRPr sz="1600"/>
          </a:p>
        </p:txBody>
      </p:sp>
      <p:grpSp>
        <p:nvGrpSpPr>
          <p:cNvPr id="98" name="Google Shape;98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Gini Coefficients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The Gini coefficient measures income inequality within a population, ranging from 0 to 1</a:t>
            </a:r>
            <a:endParaRPr sz="1600"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4" name="Google Shape;104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HDI index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The Human Development Index measures a country’s averages in the quality of health, education, and standard of living</a:t>
            </a:r>
            <a:endParaRPr sz="1600"/>
          </a:p>
        </p:txBody>
      </p: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Sourcing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World Bank Indicators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This was Kraggle dataset of 215 different variables collected by the World Bank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(215 x 16,960)</a:t>
            </a:r>
            <a:endParaRPr sz="1600"/>
          </a:p>
        </p:txBody>
      </p:sp>
      <p:sp>
        <p:nvSpPr>
          <p:cNvPr id="117" name="Google Shape;117;p15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World Bank HDI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5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This is another dataset of the HDI of each country calculated by the World Bank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20" name="Google Shape;120;p15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Combined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15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The final data that I used in my analysis was a cleaned, slimmed down, combination of the two</a:t>
            </a:r>
            <a:endParaRPr sz="1600"/>
          </a:p>
        </p:txBody>
      </p: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129" name="Google Shape;129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lots inconsistencies</a:t>
            </a:r>
            <a:endParaRPr/>
          </a:p>
        </p:txBody>
      </p:sp>
      <p:sp>
        <p:nvSpPr>
          <p:cNvPr id="130" name="Google Shape;130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Global politics and current affairs can lead to a lot of blind spots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can we answer questions using what we know even if </a:t>
            </a:r>
            <a:r>
              <a:rPr lang="en"/>
              <a:t>it's</a:t>
            </a:r>
            <a:r>
              <a:rPr lang="en"/>
              <a:t> not a perfect data set?</a:t>
            </a:r>
            <a:endParaRPr/>
          </a:p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0" y="1683750"/>
            <a:ext cx="9037900" cy="32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202550" y="366525"/>
            <a:ext cx="79866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4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</a:t>
            </a:r>
            <a:endParaRPr/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Variables</a:t>
            </a:r>
            <a:endParaRPr/>
          </a:p>
        </p:txBody>
      </p:sp>
      <p:sp>
        <p:nvSpPr>
          <p:cNvPr id="150" name="Google Shape;150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Stepwise</a:t>
            </a:r>
            <a:r>
              <a:rPr lang="en"/>
              <a:t> Regression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77550" y="2655650"/>
            <a:ext cx="4421100" cy="21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Male completion of primary school: -0.5042666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Enrollment into secondary school: -0.5092754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Cause of death by NCD:  -0.5424422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Portion of population ≤ 14:  0.5455878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Hospital beds per 1,000 people: -0.5487567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Portion of 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population</a:t>
            </a: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≥ 65: -0.5680435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Researchers in R&amp;D per million people: -0.5822693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Cause of death by injury: 0.592668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Adolescent birth rate (15-19): 0.613928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Portion of population in poverty: 0.6417278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000" y="123475"/>
            <a:ext cx="4340550" cy="267516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</a:t>
            </a:r>
            <a:endParaRPr/>
          </a:p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Adolescent Birth Rates</a:t>
            </a:r>
            <a:endParaRPr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Remember this is an indicator of lower income countries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Could be Due to:</a:t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Distribution of contraceptives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Growing Economies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Growing urban migration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Shift away from subsistence agriculture</a:t>
            </a:r>
            <a:endParaRPr/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825" y="806613"/>
            <a:ext cx="5728000" cy="35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Adolescent Birth Rates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350300" y="147545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Consistently positive with some shar spikes here and there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global average rarely dips below 0 in the past 80 years</a:t>
            </a:r>
            <a:endParaRPr/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9275" y="881050"/>
            <a:ext cx="54864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Trends</a:t>
            </a:r>
            <a:endParaRPr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311700" y="1465800"/>
            <a:ext cx="18897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 global average of HDI ratings has been increasing over time but has </a:t>
            </a:r>
            <a:r>
              <a:rPr lang="en"/>
              <a:t>definitely slowed down in the past 10 years.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450" y="482513"/>
            <a:ext cx="6779724" cy="417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Gini Coefficient Over Time</a:t>
            </a:r>
            <a:endParaRPr/>
          </a:p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350300" y="147545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It has gone up and down with a recent spike post Covid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Seems good on paper, could be worrying</a:t>
            </a:r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800" y="881063"/>
            <a:ext cx="548640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tells us</a:t>
            </a:r>
            <a:endParaRPr/>
          </a:p>
        </p:txBody>
      </p:sp>
      <p:grpSp>
        <p:nvGrpSpPr>
          <p:cNvPr id="203" name="Google Shape;203;p26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204" name="Google Shape;204;p2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26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Gini isn’t sufficient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" name="Google Shape;207;p26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The Gini index alone isn’t a sufficient indicator of how a country is doing</a:t>
            </a:r>
            <a:endParaRPr sz="1600"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209" name="Google Shape;209;p2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26"/>
          <p:cNvSpPr txBox="1"/>
          <p:nvPr>
            <p:ph idx="4294967295" type="body"/>
          </p:nvPr>
        </p:nvSpPr>
        <p:spPr>
          <a:xfrm>
            <a:off x="3320450" y="1304875"/>
            <a:ext cx="2632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Quality of life vs. </a:t>
            </a:r>
            <a:r>
              <a:rPr lang="en">
                <a:solidFill>
                  <a:schemeClr val="lt1"/>
                </a:solidFill>
              </a:rPr>
              <a:t>Equity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26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There seems to be a negative correlation between the quality of health and education vs. income equality</a:t>
            </a:r>
            <a:endParaRPr sz="1600"/>
          </a:p>
        </p:txBody>
      </p:sp>
      <p:grpSp>
        <p:nvGrpSpPr>
          <p:cNvPr id="213" name="Google Shape;213;p26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214" name="Google Shape;214;p26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6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2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Implicit factors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7" name="Google Shape;217;p26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Even within the top 20 indicators, income never made the list. Honorable mentions: Government spending(-), Energy use per capita(-), road injuries(+), crude birth rate (+)</a:t>
            </a:r>
            <a:endParaRPr sz="1600"/>
          </a:p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Improved and Widespread Data Collection</a:t>
            </a:r>
            <a:endParaRPr sz="2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Global Poverty and Quality of Life</a:t>
            </a:r>
            <a:endParaRPr sz="2400"/>
          </a:p>
        </p:txBody>
      </p:sp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